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70" r:id="rId3"/>
    <p:sldId id="265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59042-3BC1-4E30-A8E0-664A42981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17AB93-0DFA-4E14-A912-C6967CE51C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D02AD-9DB0-47AF-ADB3-3C4386B39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6F60-AF5E-4200-8CBB-9943A712436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E0DA-8689-4425-9709-9974A404C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28F88-9D73-4A2C-A8CE-1C18465DF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CA948-9F4D-4978-8E6D-7F275F1E0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182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446CB-07A7-4F5B-BD11-C3EDFB00F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DE79A-8A84-45D6-9BE9-6FA84D907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FB05F-DA41-4779-A95E-FEDECE769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6F60-AF5E-4200-8CBB-9943A712436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8E456-4624-4849-8CF8-A8E2B7438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DB4EE-5822-407D-A30B-A4A6DC2D0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CA948-9F4D-4978-8E6D-7F275F1E0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286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8C94C-6620-4A21-A33C-7E5B7DF9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BF4FB-6C83-4C58-9EC8-3C0CBAE2D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7BF5D-D468-4AE7-A23F-01EBF78AB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6F60-AF5E-4200-8CBB-9943A712436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A1C77-BD5C-4BA0-BA11-147250F70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A2609-DFAE-415F-8A65-B4B9B35B2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CA948-9F4D-4978-8E6D-7F275F1E0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144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7DCFF-6595-4BA7-B999-B52157BA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7FCC1-1089-46E0-A010-24ABBE403F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FD271-11D9-433E-98AF-4ABF3C8048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3F903A-9DB9-4033-AC9C-5F1A15893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6F60-AF5E-4200-8CBB-9943A712436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7977FF-BC8B-4BF2-8254-731F4CC8C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7D57F3-1475-4290-B94A-E83BED5C0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CA948-9F4D-4978-8E6D-7F275F1E0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745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BFA83-4DCA-435A-8F84-92D347E3C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124AD-EF0D-4D25-A506-E1BDABC3C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125299-B91E-4FF2-8E81-C289EBA1BD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BBD441-3860-4135-8973-CC1C8426A8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27DC18-95DB-4703-AA34-40D8A35034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F419B0-CD88-441E-B8ED-835F5D48D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6F60-AF5E-4200-8CBB-9943A712436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DE7D93-7285-49D9-B9C3-54E2D0E52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B51759-C3AA-4087-A898-028F5E992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CA948-9F4D-4978-8E6D-7F275F1E0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933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F9A4A-0F07-466E-9E26-004D5D39D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14BAFB-AA1A-4C06-AFC9-6E9F1872D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6F60-AF5E-4200-8CBB-9943A712436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81782B-BAD6-4148-ADEB-6459C605D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E4A468-2B2C-4831-8650-F4C7EE5B8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CA948-9F4D-4978-8E6D-7F275F1E0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302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66D753-7BAC-4943-AE94-0536EA2D3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6F60-AF5E-4200-8CBB-9943A712436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DC2D3D-4B43-4F3F-BF72-58B9241C9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2A294B-EC4A-4C7A-8902-820AC13A7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CA948-9F4D-4978-8E6D-7F275F1E0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638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2B852-4310-43CA-A5AD-4D8A87DFE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79F80-65C9-4888-AC3E-FB3ECFBCE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25C586-2DE7-4646-A4CF-4AE35F3285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7CC620-8BA9-4698-B8DE-E7954BF54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6F60-AF5E-4200-8CBB-9943A712436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8804C-4307-4706-81EC-3581072FD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AD7E-A778-4382-B3FD-63C3C69A9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CA948-9F4D-4978-8E6D-7F275F1E0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4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6A8E4-A0EC-46FF-A110-36E699F9C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D37903-6842-4FA7-86DA-7ED149097D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3D9091-16B3-4D76-9DC6-AE8E358DD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71AD3-DAC1-40E0-AB8D-565DCEEF2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6F60-AF5E-4200-8CBB-9943A712436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AC6DF-AC7F-487A-BD00-C1BE734CB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07310-3C30-40DD-8059-2AA965601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CA948-9F4D-4978-8E6D-7F275F1E0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263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EAE3B-E4BA-4FD5-87B6-3DC89E63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B34961-3CAF-4C95-BA78-205F80141D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55CA7-4FBB-4282-B013-80E3FC6B8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6F60-AF5E-4200-8CBB-9943A712436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B0C03-FD44-4FAA-874E-2D9630265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908E7-3E73-4BE7-B988-36F770E95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CA948-9F4D-4978-8E6D-7F275F1E0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325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D89304-4369-479E-A6A0-91DFC48AD7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7990E-6860-47DE-8B51-D8DBB828CB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BBBA7-A70F-4D46-808A-A0AFA27F7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6F60-AF5E-4200-8CBB-9943A712436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04BE8-8D53-4257-936B-F1117DCB3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0242C-E831-4D53-A38B-EBC874004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CA948-9F4D-4978-8E6D-7F275F1E0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79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D7AA4E-C768-4F87-91A1-6E80CD3F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F05D6-CF4E-4A47-B5E3-4027B7F2B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2F26E-4218-47A5-A917-5C26862994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26F60-AF5E-4200-8CBB-9943A712436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41AD0-7C06-4C39-830F-AC2041AC87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D8996-21E6-4296-BB1B-8F3991C3C9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CA948-9F4D-4978-8E6D-7F275F1E0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759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gif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80915-BE38-47CC-86D6-B88218B42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24" y="0"/>
            <a:ext cx="3932237" cy="1001949"/>
          </a:xfrm>
        </p:spPr>
        <p:txBody>
          <a:bodyPr/>
          <a:lstStyle/>
          <a:p>
            <a:r>
              <a:rPr lang="en-US" b="1" dirty="0"/>
              <a:t>What about the western Bering Sea?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45A025-E294-417F-842E-3309D810C7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9123" y="1001949"/>
            <a:ext cx="3932237" cy="38115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Tagging data show consistent Pacific cod movement among the eastern, northern, and western Bering Sea.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Genetic specimen of the western Bering Sea group among the eastern Bering Sea samples.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28A815FF-D539-42AA-ADDB-552C3B1D8A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804" y="125005"/>
            <a:ext cx="5106173" cy="6607989"/>
          </a:xfrm>
        </p:spPr>
      </p:pic>
    </p:spTree>
    <p:extLst>
      <p:ext uri="{BB962C8B-B14F-4D97-AF65-F5344CB8AC3E}">
        <p14:creationId xmlns:p14="http://schemas.microsoft.com/office/powerpoint/2010/main" val="590487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3054B-00AB-42CE-88B6-23AC4A9FE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95" y="0"/>
            <a:ext cx="3932237" cy="751398"/>
          </a:xfrm>
        </p:spPr>
        <p:txBody>
          <a:bodyPr/>
          <a:lstStyle/>
          <a:p>
            <a:r>
              <a:rPr lang="en-US" b="1" dirty="0" err="1"/>
              <a:t>sdmTMB</a:t>
            </a:r>
            <a:r>
              <a:rPr lang="en-US" b="1" dirty="0"/>
              <a:t> indices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7F636-DF8B-4995-910B-2F6EF8146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8937" y="915138"/>
            <a:ext cx="3932237" cy="3811588"/>
          </a:xfrm>
        </p:spPr>
        <p:txBody>
          <a:bodyPr>
            <a:normAutofit/>
          </a:bodyPr>
          <a:lstStyle/>
          <a:p>
            <a:r>
              <a:rPr lang="en-US" sz="2000" dirty="0"/>
              <a:t>Density plots (t/km2) of Pacific cod distribution for 1994, 1999, 2003, 2010, 2017, and 2024 from the </a:t>
            </a:r>
            <a:r>
              <a:rPr lang="en-US" sz="2000" dirty="0" err="1"/>
              <a:t>sdmTMB</a:t>
            </a:r>
            <a:r>
              <a:rPr lang="en-US" sz="2000" dirty="0"/>
              <a:t> projection with WBS survey data from the western Bering Sea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4211CB-833F-4088-A4A5-4F1B7EC1C9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2998" r="9478" b="11154"/>
          <a:stretch/>
        </p:blipFill>
        <p:spPr bwMode="auto">
          <a:xfrm>
            <a:off x="4947568" y="1639433"/>
            <a:ext cx="2286000" cy="194170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29C4BF-3091-4706-9A52-CDA0AEB48EC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158" r="9488" b="11002"/>
          <a:stretch/>
        </p:blipFill>
        <p:spPr bwMode="auto">
          <a:xfrm>
            <a:off x="7233568" y="1657323"/>
            <a:ext cx="2286000" cy="191497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8932AB-8301-4E16-B385-E937AE27C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6441" y="1639433"/>
            <a:ext cx="2286000" cy="19209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33C329-889F-40E1-B851-AED4A0799E3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3477" r="9483" b="10838"/>
          <a:stretch/>
        </p:blipFill>
        <p:spPr bwMode="auto">
          <a:xfrm>
            <a:off x="4947568" y="3560369"/>
            <a:ext cx="2286000" cy="19113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761FBD-B950-42F8-95A6-2B9E564035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3567" y="3560369"/>
            <a:ext cx="2286000" cy="19035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C36625-C98D-4428-A35B-84AD52251C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9567" y="3552571"/>
            <a:ext cx="2492512" cy="19019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8999E68-E7D7-4A0E-B356-C4B5708E69E0}"/>
              </a:ext>
            </a:extLst>
          </p:cNvPr>
          <p:cNvSpPr txBox="1"/>
          <p:nvPr/>
        </p:nvSpPr>
        <p:spPr>
          <a:xfrm>
            <a:off x="5056936" y="1696025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1994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B679EC-DEB5-48D9-9831-BC5C3B79BF66}"/>
              </a:ext>
            </a:extLst>
          </p:cNvPr>
          <p:cNvSpPr txBox="1"/>
          <p:nvPr/>
        </p:nvSpPr>
        <p:spPr>
          <a:xfrm>
            <a:off x="7329083" y="1696025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1999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D4A32D-A204-4FE8-BCDB-611897C013EC}"/>
              </a:ext>
            </a:extLst>
          </p:cNvPr>
          <p:cNvSpPr txBox="1"/>
          <p:nvPr/>
        </p:nvSpPr>
        <p:spPr>
          <a:xfrm>
            <a:off x="9676752" y="1696025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2003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BE9C1C-DFFB-42F1-BB99-8F8A3D047F5A}"/>
              </a:ext>
            </a:extLst>
          </p:cNvPr>
          <p:cNvSpPr txBox="1"/>
          <p:nvPr/>
        </p:nvSpPr>
        <p:spPr>
          <a:xfrm>
            <a:off x="5056935" y="3599071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9B5167-54D6-4FF4-AA0C-6F0E5A59DE94}"/>
              </a:ext>
            </a:extLst>
          </p:cNvPr>
          <p:cNvSpPr txBox="1"/>
          <p:nvPr/>
        </p:nvSpPr>
        <p:spPr>
          <a:xfrm>
            <a:off x="7363977" y="3616961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7A869C-C039-4BE0-B904-38886F16713E}"/>
              </a:ext>
            </a:extLst>
          </p:cNvPr>
          <p:cNvSpPr txBox="1"/>
          <p:nvPr/>
        </p:nvSpPr>
        <p:spPr>
          <a:xfrm>
            <a:off x="9676752" y="3618622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2024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C0D7AB5-6772-4C51-9E70-4D4B6C199FC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34" y="2845494"/>
            <a:ext cx="4264195" cy="4264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694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E26AE-F444-44E0-A944-8039DE3B4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03" y="0"/>
            <a:ext cx="3712757" cy="531812"/>
          </a:xfrm>
        </p:spPr>
        <p:txBody>
          <a:bodyPr/>
          <a:lstStyle/>
          <a:p>
            <a:r>
              <a:rPr lang="en-US" b="1" dirty="0" err="1"/>
              <a:t>sdmTMB</a:t>
            </a:r>
            <a:r>
              <a:rPr lang="en-US" b="1" dirty="0"/>
              <a:t> indices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E8B01B-77E1-49E8-88B6-68DB22A88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703" y="928991"/>
            <a:ext cx="3932237" cy="3811588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Shift in biomass distribution to WBS and NBS post-2014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average proportion of biomass in the WBS compared to the all areas for 1982-2014 was 13.3%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For 2015-2019 that proportion rose to 30.4%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For 2024 the WBS share of biomass has dropped to 6.3%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Although an increase in NBS biomass started prior to the WBS increase, it peaked in 2018, two years after the WBS.</a:t>
            </a:r>
          </a:p>
        </p:txBody>
      </p:sp>
      <p:pic>
        <p:nvPicPr>
          <p:cNvPr id="32" name="Content Placeholder 31">
            <a:extLst>
              <a:ext uri="{FF2B5EF4-FFF2-40B4-BE49-F238E27FC236}">
                <a16:creationId xmlns:a16="http://schemas.microsoft.com/office/drawing/2014/main" id="{E3B1A492-819A-4996-8252-E74990FF2C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5191" y="223737"/>
            <a:ext cx="6986131" cy="6330382"/>
          </a:xfrm>
        </p:spPr>
      </p:pic>
    </p:spTree>
    <p:extLst>
      <p:ext uri="{BB962C8B-B14F-4D97-AF65-F5344CB8AC3E}">
        <p14:creationId xmlns:p14="http://schemas.microsoft.com/office/powerpoint/2010/main" val="1891832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7C88D-7152-44A8-9547-A4B7F5366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86" y="13740"/>
            <a:ext cx="3932237" cy="972766"/>
          </a:xfrm>
        </p:spPr>
        <p:txBody>
          <a:bodyPr/>
          <a:lstStyle/>
          <a:p>
            <a:r>
              <a:rPr lang="en-US" b="1" dirty="0"/>
              <a:t>Western Bering Sea  catch increase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281BBB-18DE-4A44-B09A-34B3C4C965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486" y="1113817"/>
            <a:ext cx="3932237" cy="38115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Western Bering Sea Pacific cod catch has increased substantially in the last 5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From 1990-2016 WBS catch average ~27,600t  (13.1% of the total Bering Sea catch)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For 2017-2024 WBS catch averaged 68,700 t (28.9% of the total Bering Sea catch) with a peak catch of 106,200 t in 2020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C4A82F2E-4F07-4F6B-AC2A-1614269C6E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8348" y="447472"/>
            <a:ext cx="7342522" cy="575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935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221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What about the western Bering Sea?</vt:lpstr>
      <vt:lpstr>sdmTMB indices</vt:lpstr>
      <vt:lpstr>sdmTMB indices</vt:lpstr>
      <vt:lpstr>Western Bering Sea  catch increase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about the western Bering Sea?</dc:title>
  <dc:creator>Steve Barbeaux</dc:creator>
  <cp:lastModifiedBy>Steve Barbeaux</cp:lastModifiedBy>
  <cp:revision>1</cp:revision>
  <dcterms:created xsi:type="dcterms:W3CDTF">2026-01-22T19:34:37Z</dcterms:created>
  <dcterms:modified xsi:type="dcterms:W3CDTF">2026-01-22T19:37:58Z</dcterms:modified>
</cp:coreProperties>
</file>